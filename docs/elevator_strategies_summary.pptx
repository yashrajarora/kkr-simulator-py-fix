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8" r:id="rId5"/>
    <p:sldId id="277" r:id="rId6"/>
    <p:sldId id="259" r:id="rId7"/>
    <p:sldId id="260" r:id="rId8"/>
    <p:sldId id="261" r:id="rId9"/>
    <p:sldId id="271" r:id="rId10"/>
    <p:sldId id="273" r:id="rId11"/>
    <p:sldId id="272" r:id="rId12"/>
    <p:sldId id="275" r:id="rId13"/>
    <p:sldId id="276" r:id="rId14"/>
    <p:sldId id="274" r:id="rId15"/>
    <p:sldId id="262" r:id="rId16"/>
    <p:sldId id="263" r:id="rId17"/>
    <p:sldId id="264" r:id="rId18"/>
    <p:sldId id="265" r:id="rId19"/>
    <p:sldId id="266" r:id="rId20"/>
    <p:sldId id="267" r:id="rId21"/>
    <p:sldId id="279" r:id="rId22"/>
    <p:sldId id="282" r:id="rId23"/>
    <p:sldId id="280" r:id="rId24"/>
    <p:sldId id="281" r:id="rId25"/>
    <p:sldId id="268" r:id="rId26"/>
    <p:sldId id="283" r:id="rId27"/>
    <p:sldId id="284" r:id="rId28"/>
    <p:sldId id="285" r:id="rId29"/>
    <p:sldId id="286" r:id="rId30"/>
    <p:sldId id="28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Round Robin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Rush hour</c:v>
                </c:pt>
                <c:pt idx="1">
                  <c:v>Uniform traffic</c:v>
                </c:pt>
                <c:pt idx="2">
                  <c:v>Sparse traffic</c:v>
                </c:pt>
                <c:pt idx="3">
                  <c:v>Large building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24.43</c:v>
                </c:pt>
                <c:pt idx="1">
                  <c:v>19.05</c:v>
                </c:pt>
                <c:pt idx="2">
                  <c:v>10.45</c:v>
                </c:pt>
                <c:pt idx="3">
                  <c:v>93.1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51-44A5-95B5-1FB77EEA7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Nearest Car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Rush hour</c:v>
                </c:pt>
                <c:pt idx="1">
                  <c:v>Uniform traffic</c:v>
                </c:pt>
                <c:pt idx="2">
                  <c:v>Sparse traffic</c:v>
                </c:pt>
                <c:pt idx="3">
                  <c:v>Large building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23.38</c:v>
                </c:pt>
                <c:pt idx="1">
                  <c:v>17.05</c:v>
                </c:pt>
                <c:pt idx="2">
                  <c:v>10.05</c:v>
                </c:pt>
                <c:pt idx="3">
                  <c:v>95.7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51-44A5-95B5-1FB77EEA7D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Nearest Car Simple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Rush hour</c:v>
                </c:pt>
                <c:pt idx="1">
                  <c:v>Uniform traffic</c:v>
                </c:pt>
                <c:pt idx="2">
                  <c:v>Sparse traffic</c:v>
                </c:pt>
                <c:pt idx="3">
                  <c:v>Large building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31.06</c:v>
                </c:pt>
                <c:pt idx="1">
                  <c:v>21.1</c:v>
                </c:pt>
                <c:pt idx="2">
                  <c:v>10.3</c:v>
                </c:pt>
                <c:pt idx="3">
                  <c:v>141.55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51-44A5-95B5-1FB77EEA7D2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Nearest Car Forward Run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Rush hour</c:v>
                </c:pt>
                <c:pt idx="1">
                  <c:v>Uniform traffic</c:v>
                </c:pt>
                <c:pt idx="2">
                  <c:v>Sparse traffic</c:v>
                </c:pt>
                <c:pt idx="3">
                  <c:v>Large building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23.57</c:v>
                </c:pt>
                <c:pt idx="1">
                  <c:v>15.5</c:v>
                </c:pt>
                <c:pt idx="2">
                  <c:v>9.45</c:v>
                </c:pt>
                <c:pt idx="3">
                  <c:v>111.35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51-44A5-95B5-1FB77EEA7D2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Cost Based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Rush hour</c:v>
                </c:pt>
                <c:pt idx="1">
                  <c:v>Uniform traffic</c:v>
                </c:pt>
                <c:pt idx="2">
                  <c:v>Sparse traffic</c:v>
                </c:pt>
                <c:pt idx="3">
                  <c:v>Large building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16.43</c:v>
                </c:pt>
                <c:pt idx="1">
                  <c:v>12.2</c:v>
                </c:pt>
                <c:pt idx="2">
                  <c:v>8.7</c:v>
                </c:pt>
                <c:pt idx="3">
                  <c:v>50.8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51-44A5-95B5-1FB77EEA7D2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Balanced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Rush hour</c:v>
                </c:pt>
                <c:pt idx="1">
                  <c:v>Uniform traffic</c:v>
                </c:pt>
                <c:pt idx="2">
                  <c:v>Sparse traffic</c:v>
                </c:pt>
                <c:pt idx="3">
                  <c:v>Large building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23.12</c:v>
                </c:pt>
                <c:pt idx="1">
                  <c:v>16.15</c:v>
                </c:pt>
                <c:pt idx="2">
                  <c:v>9.45</c:v>
                </c:pt>
                <c:pt idx="3">
                  <c:v>96.3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451-44A5-95B5-1FB77EEA7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Elevator dispatch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ADCFC"/>
                </a:solidFill>
                <a:latin typeface="Calibri"/>
              </a:rPr>
              <a:t>How we approached the requirements, and what the strategies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kkr-simulator-py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Four steps, each checked before the next one started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74720"/>
            <a:ext cx="2194560" cy="17235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1F2937"/>
                </a:solidFill>
                <a:latin typeface="Calibri"/>
              </a:rPr>
              <a:t>Read the rules that decide </a:t>
            </a:r>
            <a:r>
              <a:rPr sz="1600" b="0" dirty="0" err="1">
                <a:solidFill>
                  <a:srgbClr val="1F2937"/>
                </a:solidFill>
                <a:latin typeface="Calibri"/>
              </a:rPr>
              <a:t>behaviour</a:t>
            </a:r>
            <a:r>
              <a:rPr sz="1600" b="0" dirty="0">
                <a:solidFill>
                  <a:srgbClr val="1F2937"/>
                </a:solidFill>
                <a:latin typeface="Calibri"/>
              </a:rPr>
              <a:t>: direction, capacity, no look-ahead.</a:t>
            </a:r>
            <a:endParaRPr lang="en-US" sz="1600" b="0" dirty="0">
              <a:solidFill>
                <a:srgbClr val="1F2937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endParaRPr lang="en-US" sz="1600" dirty="0">
              <a:solidFill>
                <a:srgbClr val="1F2937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lang="en-US" sz="1200" i="1" dirty="0">
                <a:solidFill>
                  <a:srgbClr val="1F2937"/>
                </a:solidFill>
                <a:latin typeface="Calibri"/>
              </a:rPr>
              <a:t>Refer: Requirements.md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703320" y="21031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880360"/>
            <a:ext cx="21945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dirty="0">
                <a:solidFill>
                  <a:srgbClr val="1E2761"/>
                </a:solidFill>
                <a:latin typeface="Calibri"/>
              </a:rPr>
              <a:t>Entities and </a:t>
            </a:r>
            <a:r>
              <a:rPr sz="2000" b="1" dirty="0">
                <a:solidFill>
                  <a:srgbClr val="1E2761"/>
                </a:solidFill>
                <a:latin typeface="Calibri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474720"/>
            <a:ext cx="2194560" cy="16466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dirty="0">
                <a:solidFill>
                  <a:srgbClr val="1F2937"/>
                </a:solidFill>
                <a:latin typeface="Calibri"/>
              </a:rPr>
              <a:t>Decide on Entities for the system 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1F2937"/>
                </a:solidFill>
                <a:latin typeface="Calibri"/>
              </a:rPr>
              <a:t>Layers with one class per strategy, so a new strategy needs no simulator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803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Build and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74720"/>
            <a:ext cx="2194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Car and tick first, then each strategy with its own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372600" y="21031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8803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474720"/>
            <a:ext cx="2194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Same inputs for every strategy: waits, total times, and fairness across cars.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Four rules the design is built around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19" y="1874519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246888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A passenger boards only when the car is going their way. Riders share one direction.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59" y="1874519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46888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Riders never exceed a car's capacity. A full car can be given a trip, and the passenger waits for a seat.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41605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No look-ahead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475488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A decision at a tick uses only requests made by that tick.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41605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Express cars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475488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An express car never stops outside its served set. Floor 1 is always 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Two kinds of requirement: what it does and how well</a:t>
            </a:r>
          </a:p>
        </p:txBody>
      </p:sp>
      <p:sp>
        <p:nvSpPr>
          <p:cNvPr id="3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Both are listed in docs/requirements.md, and the tests check them</a:t>
            </a:r>
          </a:p>
        </p:txBody>
      </p:sp>
      <p:sp>
        <p:nvSpPr>
          <p:cNvPr id="4" name="Rounded Rectangle 2"/>
          <p:cNvSpPr/>
          <p:nvPr/>
        </p:nvSpPr>
        <p:spPr>
          <a:xfrm>
            <a:off x="640080" y="164592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3"/>
          <p:cNvSpPr txBox="1"/>
          <p:nvPr/>
        </p:nvSpPr>
        <p:spPr>
          <a:xfrm>
            <a:off x="960119" y="1874519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Functional (36)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960119" y="23774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1F2937"/>
                </a:solidFill>
                <a:latin typeface="Calibri"/>
              </a:rPr>
              <a:t>What the simulator does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960119" y="2880360"/>
            <a:ext cx="466344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Floors and cars, with their settings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Requests: source, destination, time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Assigning each request to a car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Movement, boarding and alighting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Traffic modes: NORMAL and rush modes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Input checks and output files</a:t>
            </a:r>
          </a:p>
        </p:txBody>
      </p:sp>
      <p:sp>
        <p:nvSpPr>
          <p:cNvPr id="8" name="Rounded Rectangle 2"/>
          <p:cNvSpPr/>
          <p:nvPr/>
        </p:nvSpPr>
        <p:spPr>
          <a:xfrm>
            <a:off x="6217920" y="164592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3"/>
          <p:cNvSpPr txBox="1"/>
          <p:nvPr/>
        </p:nvSpPr>
        <p:spPr>
          <a:xfrm>
            <a:off x="6537959" y="1874519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Non-functional (34)</a:t>
            </a:r>
          </a:p>
        </p:txBody>
      </p:sp>
      <p:sp>
        <p:nvSpPr>
          <p:cNvPr id="10" name="TextBox 4"/>
          <p:cNvSpPr txBox="1"/>
          <p:nvPr/>
        </p:nvSpPr>
        <p:spPr>
          <a:xfrm>
            <a:off x="6537959" y="23774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1F2937"/>
                </a:solidFill>
                <a:latin typeface="Calibri"/>
              </a:rPr>
              <a:t>How well it must do it</a:t>
            </a:r>
          </a:p>
        </p:txBody>
      </p:sp>
      <p:sp>
        <p:nvSpPr>
          <p:cNvPr id="11" name="TextBox 4"/>
          <p:cNvSpPr txBox="1"/>
          <p:nvPr/>
        </p:nvSpPr>
        <p:spPr>
          <a:xfrm>
            <a:off x="6537959" y="2880360"/>
            <a:ext cx="466344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Correctness and safety: capacity, direction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Determinism: same input, same output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Configurable settings, run with no arguments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Strategy design and bounded decision time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Clear error messages, no stack traces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Testability: each rule can be tested</a:t>
            </a:r>
          </a:p>
        </p:txBody>
      </p:sp>
      <p:sp>
        <p:nvSpPr>
          <p:cNvPr id="12" name="TextBox 4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Functional requirements say what the simulator must do. Non-functional requirements set the standards it must meet.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libri"/>
              </a:rPr>
              <a:t>Traffic modes: NORMAL and four rush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5B6478"/>
                </a:solidFill>
                <a:latin typeface="Calibri"/>
              </a:rPr>
              <a:t>One mode is set for each run in elevator.properties (mode=). It decides where an empty car waits.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3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Who is travelling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 an empty car waits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 rush. Everyone is served as they 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The car stays where it last stopped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MORNING_RUSH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People arriving and going up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Floor 1 (the lobby)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LUNCH_BACK_RUSH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People returning and going 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Floor 1 (the lobby)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LUNCH_OUT_RUSH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People leaving and going down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 parking floor set for each car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EVENING_RUSH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People leaving and going 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 parking floor set for each car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937"/>
                </a:solidFill>
                <a:latin typeface="Calibri"/>
              </a:rPr>
              <a:t>The rush modes change only where empty cars wait. The strategies, the eligibility rules and the car movement are the same in every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Technical design: six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Each layer depends only on the layers below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4708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Calibri"/>
              </a:rPr>
              <a:t>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4708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settings, checks, building the cars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2432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Calibri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2432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Car, Trip, PassengerRequest, Direction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91839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4015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Calibri"/>
              </a:rPr>
              <a:t>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40156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the strategies and the eligibility tiers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79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178807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Calibri"/>
              </a:rPr>
              <a:t>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78807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tick loop, request queue, movement and boarding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4632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956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Calibri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95604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request reader and output writer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73328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Calibri"/>
              </a:rPr>
              <a:t>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73328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waits, total times, summary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Technical design: one tick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The same order in the real run and in every forward-run copy</a:t>
            </a:r>
          </a:p>
        </p:txBody>
      </p:sp>
      <p:sp>
        <p:nvSpPr>
          <p:cNvPr id="4" name="Pentagon 3"/>
          <p:cNvSpPr/>
          <p:nvPr/>
        </p:nvSpPr>
        <p:spPr>
          <a:xfrm>
            <a:off x="548640" y="2377440"/>
            <a:ext cx="2377440" cy="1463040"/>
          </a:xfrm>
          <a:prstGeom prst="homePlat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Record car floors</a:t>
            </a:r>
          </a:p>
        </p:txBody>
      </p:sp>
      <p:sp>
        <p:nvSpPr>
          <p:cNvPr id="5" name="Chevron 4"/>
          <p:cNvSpPr/>
          <p:nvPr/>
        </p:nvSpPr>
        <p:spPr>
          <a:xfrm>
            <a:off x="2834640" y="2377440"/>
            <a:ext cx="2377440" cy="1463040"/>
          </a:xfrm>
          <a:prstGeom prst="chevron">
            <a:avLst/>
          </a:prstGeom>
          <a:solidFill>
            <a:srgbClr val="3A4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Riders alight</a:t>
            </a:r>
          </a:p>
        </p:txBody>
      </p:sp>
      <p:sp>
        <p:nvSpPr>
          <p:cNvPr id="6" name="Chevron 5"/>
          <p:cNvSpPr/>
          <p:nvPr/>
        </p:nvSpPr>
        <p:spPr>
          <a:xfrm>
            <a:off x="5120640" y="2377440"/>
            <a:ext cx="2377440" cy="1463040"/>
          </a:xfrm>
          <a:prstGeom prst="chevron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Assign new requests</a:t>
            </a:r>
          </a:p>
        </p:txBody>
      </p:sp>
      <p:sp>
        <p:nvSpPr>
          <p:cNvPr id="7" name="Chevron 6"/>
          <p:cNvSpPr/>
          <p:nvPr/>
        </p:nvSpPr>
        <p:spPr>
          <a:xfrm>
            <a:off x="7406640" y="2377440"/>
            <a:ext cx="2377440" cy="1463040"/>
          </a:xfrm>
          <a:prstGeom prst="chevron">
            <a:avLst/>
          </a:prstGeom>
          <a:solidFill>
            <a:srgbClr val="3A4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Board waiting passengers</a:t>
            </a:r>
          </a:p>
        </p:txBody>
      </p:sp>
      <p:sp>
        <p:nvSpPr>
          <p:cNvPr id="8" name="Chevron 7"/>
          <p:cNvSpPr/>
          <p:nvPr/>
        </p:nvSpPr>
        <p:spPr>
          <a:xfrm>
            <a:off x="9692640" y="2377440"/>
            <a:ext cx="2377440" cy="1463040"/>
          </a:xfrm>
          <a:prstGeom prst="chevron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Move one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Riders alight first, then new requests are assigned. Each car then boards and moves one floor, in car-number order.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A car boards only passengers going its own direction, and only when there is a free seat.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Predicting a pickup time: the forward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Time-based strategies simulate each car instead of guessing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120640" cy="393192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1. Copy the 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Riders and pending passengers are copied with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2. Add the new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Run the copy forward, one tick at a time, with the same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3. Read the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The tick at which the new passenger boards gives the pickup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290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4. Throw the copy 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977639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The real car and its trips are never changed.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96785"/>
            <a:ext cx="10972800" cy="1313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67" b="1">
                <a:solidFill>
                  <a:srgbClr val="1E2761"/>
                </a:solidFill>
                <a:latin typeface="Calibri"/>
              </a:rPr>
              <a:t>Round Robin: take turns, and group same-direction riders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828801"/>
            <a:ext cx="5486400" cy="2631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Cars are tried in rotation. The pointer moves past the car that was picked.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Requests made at the same time, going the same way, share a car if it has room for all of them and can reach both floors.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A request that cannot be grouped goes alone, to the next car in rotation.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61760" y="1828800"/>
            <a:ext cx="5120640" cy="134112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6705600" y="2047922"/>
            <a:ext cx="4693920" cy="9028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33" b="1">
                <a:solidFill>
                  <a:srgbClr val="1E2761"/>
                </a:solidFill>
                <a:latin typeface="Calibri"/>
              </a:rPr>
              <a:t>Pass 1: ready now</a:t>
            </a:r>
          </a:p>
          <a:p>
            <a:pPr algn="l"/>
            <a:r>
              <a:rPr sz="1867">
                <a:solidFill>
                  <a:srgbClr val="1F2937"/>
                </a:solidFill>
                <a:latin typeface="Calibri"/>
              </a:rPr>
              <a:t>Has room, and is idle or going the passenger's way with the passenger ahead.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61760" y="3352800"/>
            <a:ext cx="5120640" cy="134112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705600" y="3571922"/>
            <a:ext cx="4693920" cy="9028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33" b="1">
                <a:solidFill>
                  <a:srgbClr val="1E2761"/>
                </a:solidFill>
                <a:latin typeface="Calibri"/>
              </a:rPr>
              <a:t>Pass 2: has room</a:t>
            </a:r>
          </a:p>
          <a:p>
            <a:pPr algn="l"/>
            <a:r>
              <a:rPr sz="1867">
                <a:solidFill>
                  <a:srgbClr val="1F2937"/>
                </a:solidFill>
                <a:latin typeface="Calibri"/>
              </a:rPr>
              <a:t>Has room, whatever its direction, since it will turn around.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1760" y="4876800"/>
            <a:ext cx="5120640" cy="134112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705600" y="5239584"/>
            <a:ext cx="46939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33" b="1">
                <a:solidFill>
                  <a:srgbClr val="1E2761"/>
                </a:solidFill>
                <a:latin typeface="Calibri"/>
              </a:rPr>
              <a:t>Pass 3: any car</a:t>
            </a:r>
          </a:p>
          <a:p>
            <a:pPr algn="l"/>
            <a:r>
              <a:rPr sz="1867">
                <a:solidFill>
                  <a:srgbClr val="1F2937"/>
                </a:solidFill>
                <a:latin typeface="Calibri"/>
              </a:rPr>
              <a:t>Any car that serves both floors.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96785"/>
            <a:ext cx="10972800" cy="1313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67" b="1">
                <a:solidFill>
                  <a:srgbClr val="1E2761"/>
                </a:solidFill>
                <a:latin typeface="Calibri"/>
              </a:rPr>
              <a:t>Nearest Car Simple: distance in floors (comparison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828800"/>
            <a:ext cx="6583680" cy="2797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 dirty="0">
                <a:solidFill>
                  <a:srgbClr val="1F2937"/>
                </a:solidFill>
                <a:latin typeface="Calibri"/>
              </a:rPr>
              <a:t>Distance is the number of floors between the car and the passenger.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 dirty="0">
                <a:solidFill>
                  <a:srgbClr val="1F2937"/>
                </a:solidFill>
                <a:latin typeface="Calibri"/>
              </a:rPr>
              <a:t>A car that can take the passenger now always beats a car that cannot.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 dirty="0">
                <a:solidFill>
                  <a:srgbClr val="1F2937"/>
                </a:solidFill>
                <a:latin typeface="Calibri"/>
              </a:rPr>
              <a:t>If no car can take them now, the nearest car that serves both floors still gets them.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 dirty="0">
                <a:solidFill>
                  <a:srgbClr val="1F2937"/>
                </a:solidFill>
                <a:latin typeface="Calibri"/>
              </a:rPr>
              <a:t>A tie goes to the lower car number.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802880" y="1828800"/>
            <a:ext cx="3779520" cy="24384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8046720" y="2473452"/>
            <a:ext cx="3291840" cy="11490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33">
                <a:solidFill>
                  <a:srgbClr val="5B6478"/>
                </a:solidFill>
                <a:latin typeface="Calibri"/>
              </a:rPr>
              <a:t>Distance</a:t>
            </a:r>
          </a:p>
          <a:p>
            <a:pPr algn="ctr"/>
            <a:r>
              <a:rPr sz="2667" b="1">
                <a:solidFill>
                  <a:srgbClr val="1E2761"/>
                </a:solidFill>
                <a:latin typeface="Calibri"/>
              </a:rPr>
              <a:t>|car floor − passenger floor|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25111"/>
            <a:ext cx="10972800" cy="6566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67" b="1" dirty="0">
                <a:solidFill>
                  <a:srgbClr val="1E2761"/>
                </a:solidFill>
                <a:latin typeface="Calibri"/>
              </a:rPr>
              <a:t>Nearest Car: the nearest car in floors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828801"/>
            <a:ext cx="6339840" cy="3125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Only cars with room for the passenger now are measured, unless no car has room.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Distance is the floors to the passenger. A car heading away also pays the floors to its turn point and back.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The car with the smallest distance gets the request. Ties go to the lower car number.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9040" y="1828800"/>
            <a:ext cx="4023360" cy="316992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7924800" y="2695551"/>
            <a:ext cx="3352800" cy="14364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33">
                <a:solidFill>
                  <a:srgbClr val="5B6478"/>
                </a:solidFill>
                <a:latin typeface="Calibri"/>
              </a:rPr>
              <a:t>Distance</a:t>
            </a:r>
          </a:p>
          <a:p>
            <a:pPr algn="ctr"/>
            <a:r>
              <a:rPr sz="2667" b="1">
                <a:solidFill>
                  <a:srgbClr val="1E2761"/>
                </a:solidFill>
                <a:latin typeface="Calibri"/>
              </a:rPr>
              <a:t>floors to the passenger, plus the detour</a:t>
            </a:r>
          </a:p>
          <a:p>
            <a:pPr algn="ctr"/>
            <a:r>
              <a:rPr sz="1867">
                <a:solidFill>
                  <a:srgbClr val="1F2937"/>
                </a:solidFill>
                <a:latin typeface="Calibri"/>
              </a:rPr>
              <a:t>an estimate: stops, seats and time at each floor are not counted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dirty="0">
                <a:solidFill>
                  <a:srgbClr val="1E2761"/>
                </a:solidFill>
                <a:latin typeface="Calibri"/>
              </a:rPr>
              <a:t>Nearest Car Forward Run</a:t>
            </a:r>
            <a:r>
              <a:rPr lang="en-US" sz="3200" b="1" dirty="0">
                <a:solidFill>
                  <a:srgbClr val="1E2761"/>
                </a:solidFill>
                <a:latin typeface="Calibri"/>
              </a:rPr>
              <a:t>: the fastest pickup</a:t>
            </a:r>
            <a:endParaRPr sz="32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Each eligible car is tested with a forward run: a copy of the car, with the new request added, runs one tick at a time.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copy includes the car's riders and pending passengers, so stops, seats and turns are counted.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car with the smallest wait gets the request. Ties go to the lower car number.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828800"/>
            <a:ext cx="4572000" cy="32918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0" y="2057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5B6478"/>
                </a:solidFill>
                <a:latin typeface="Calibri"/>
              </a:rPr>
              <a:t>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65176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pickup time − request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4206240"/>
            <a:ext cx="4023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 dirty="0">
                <a:solidFill>
                  <a:srgbClr val="1F2937"/>
                </a:solidFill>
                <a:latin typeface="Calibri"/>
              </a:rPr>
              <a:t>measured in ticks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Balanced: pickup time against load (FR-ASN-4d)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Each eligible car gets a score from its wait and its load.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car with the lowest score gets the request. Ties go to the lower car number.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Both weights default to 1.0 and are set in the code. With the load weight at 0, it matches Nearest Car Forward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828800"/>
            <a:ext cx="4572000" cy="32918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0" y="2057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5B6478"/>
                </a:solidFill>
                <a:latin typeface="Calibri"/>
              </a:rPr>
              <a:t>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65176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wait_time_weight × wait + car_load_weight × passengers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420624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passengers = riders plus pending passengers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96785"/>
            <a:ext cx="10972800" cy="1313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67" b="1">
                <a:solidFill>
                  <a:srgbClr val="1E2761"/>
                </a:solidFill>
                <a:latin typeface="Calibri"/>
              </a:rPr>
              <a:t>Cost Based: keep every passenger's wait fair (FR-ASN-4c)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828800"/>
            <a:ext cx="6339840" cy="2797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Each eligible car is tested with a forward run that predicts its trips, including the new passenger.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A car's largest wait is the longest wait of anyone on it, the new passenger included.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The car with the smallest largest wait gets the request, so no one is left far behind.</a:t>
            </a:r>
          </a:p>
          <a:p>
            <a:pPr marL="365751" indent="-365751">
              <a:spcAft>
                <a:spcPts val="1333"/>
              </a:spcAft>
              <a:buFont typeface="Arial"/>
              <a:buChar char="•"/>
            </a:pPr>
            <a:r>
              <a:rPr sz="2133">
                <a:solidFill>
                  <a:srgbClr val="1F2937"/>
                </a:solidFill>
                <a:latin typeface="Calibri"/>
              </a:rPr>
              <a:t>A tie goes to the lower car number.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9040" y="1828800"/>
            <a:ext cx="4023360" cy="18288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7802880" y="2209753"/>
            <a:ext cx="3596640" cy="10668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33">
                <a:solidFill>
                  <a:srgbClr val="5B6478"/>
                </a:solidFill>
                <a:latin typeface="Calibri"/>
              </a:rPr>
              <a:t>Largest wait of a car</a:t>
            </a:r>
          </a:p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max wait over its predicted trips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59040" y="3901440"/>
            <a:ext cx="4023360" cy="18288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802880" y="4467058"/>
            <a:ext cx="3596640" cy="6975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33">
                <a:solidFill>
                  <a:srgbClr val="5B6478"/>
                </a:solidFill>
                <a:latin typeface="Calibri"/>
              </a:rPr>
              <a:t>Chosen car</a:t>
            </a:r>
          </a:p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smallest largest wait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Six strategies, two ways of measuring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Distance-based strategies use floors. Time-based strategies use the forward run.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41033"/>
              </p:ext>
            </p:extLst>
          </p:nvPr>
        </p:nvGraphicFramePr>
        <p:xfrm>
          <a:off x="640080" y="18288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Forward 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Filters first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Rotation, direction, room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Ready cars 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NEAREST_CAR</a:t>
                      </a:r>
                      <a:r>
                        <a:rPr lang="en-US" dirty="0"/>
                        <a:t>_SIMPLE</a:t>
                      </a:r>
                      <a:endParaRPr dirty="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Floors only</a:t>
                      </a:r>
                      <a:endParaRPr dirty="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Ready cars first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NEAREST_CAR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Floors, plus the turn detour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Cars with room 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Ticks to pickup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BALANCED_STRATEGY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Wait + load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COST_BASED</a:t>
                      </a:r>
                      <a:endParaRPr dirty="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Longest predicted wait</a:t>
                      </a:r>
                      <a:endParaRPr dirty="0"/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How the time-based strategies score a car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Forward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Wait in ticks until the car picks the passenger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63440" y="21031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9260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Cost 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56616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The longest wait of anyone on the car after the new passenger is added. The smallest wins.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80" y="21031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260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Balanced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6616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wait_time_weight x wait + car_load_weight x passengers. Both weights are 1.0.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The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One input of 100 passengers, the same for every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E2761"/>
                </a:solidFill>
                <a:latin typeface="Calibri"/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passengers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E2761"/>
                </a:solidFill>
                <a:latin typeface="Calibri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38328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floors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E2761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38328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cars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210312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E2761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38328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capacity per 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All cars start on floor 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Requests arrive between tick 0 and tick 291, from data/requests_big.csv.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Results on the 100-passenger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Green marks the best strategy for each measure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648565"/>
              </p:ext>
            </p:extLst>
          </p:nvPr>
        </p:nvGraphicFramePr>
        <p:xfrm>
          <a:off x="457200" y="1737360"/>
          <a:ext cx="11340193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4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4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44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4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4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ROUND_ROBIN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NEAREST_CAR_SIMPLE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COST_BASED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BALANCED_STRATEGY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44.62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33.23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29.16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35.80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38.93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28.82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total time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25.0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95th percentile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0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floors travelled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1429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1703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Passenger balance across cars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0.986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0.942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0.939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0.972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0.925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0.967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ticks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364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324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345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369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332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dirty="0"/>
                        <a:t>323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240344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data/requests_big.csv, one run of 100 passengers. 50 floors, 6 cars, capacity 10, all cars start on floor 1 (config/elevator.properties).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Fairness against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100 passengers. Lower and further left is better on both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1737360"/>
            <a:ext cx="3200400" cy="438912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0" y="1920240"/>
            <a:ext cx="2743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Nearest Car Forward Run has the lowest median total time (25.0 ticks), with Balanced close (26.0).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Balanced has the lowest 95th percentile wait (31 ticks), against 39 for Nearest Car Forward Run and Cost Based.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No strategy is best on both, so the choice is a trade-off.</a:t>
            </a:r>
          </a:p>
        </p:txBody>
      </p:sp>
      <p:sp>
        <p:nvSpPr>
          <p:cNvPr id="8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data/requests_big.csv, one run of 100 passengers. 50 floors, 6 cars, capacity 10 (config/elevator.properties).</a:t>
            </a:r>
          </a:p>
        </p:txBody>
      </p:sp>
      <p:pic>
        <p:nvPicPr>
          <p:cNvPr id="9" name="Picture 8" descr="section8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7040000" cy="440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What the 100-passenger sample shows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Nearest Car Forward Run has the lowest median total time, 25.0 ticks.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83464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Balanced has the lowest 95th percentile wait, 31 ticks.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Even spread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83464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Round Robin spreads passengers most evenly across cars (passenger balance 0.99).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libri"/>
              </a:rPr>
              <a:t>Scenarios: which strategy wins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Calibri"/>
              </a:rPr>
              <a:t>Averages over generated traffic (rush hour: 100 files per direction; others: 20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20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4024566597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average wait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longest wait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Fewest floors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Most balanced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Fewest total ticks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Rush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 (7.13), just ahead of Balanced (7.33)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Round Robin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Balanced (47.8)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Uniform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 (4.5)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Round Robin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(44.10), just ahead of Nearest Car Forward Run (44.25)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Sparse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Balanced (3.25), just ahead of Nearest Car Forward Run (3.37)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Round Robin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and Balanced (38.80), just ahead of Nearest Car Forward Run (38.95)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Large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(26.7)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(51)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Round Robin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(166.6)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Samples: generated traffic, averaged over files. Morning and evening rush: 100 files, 30 passengers, 10 floors, 3 cars, capacity 4. Uniform: 20 files, 30 passengers, same building. Sparse: 20 files, 10 passengers. Large building: 20 files, 100 passengers, 50 floors, 6 cars, capacity 8.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libri"/>
              </a:rPr>
              <a:t>Efficiency and fairness across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Calibri"/>
              </a:rPr>
              <a:t>Efficiency is the median total time. Fairness is the 95th percentile wait. Averages over generated traffic.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Efficiency: lowest median total time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Fairness: lowest 95th percentile wait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Trade-off?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Rush hour (100 files per direction, 30 passengers)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 (10.9)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(15.3)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Average of morning and evening rush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Uniform traffic (20 files, 30 passengers)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 (7.7)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(11.3)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Second on the median: Balanced (8.15)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Sparse traffic (20 files, 10 passengers)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Balanced (6.30), just ahead of Nearest Car Forward Run (6.47)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(8.7)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10 passengers, so the 95th percentile is the maximum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Large building (20 files, 100 passengers)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Nearest Car Forward Run (38.9)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(45.6)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Cost Based 46 against 73 for Nearest Car Forward Run (95th percentile)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Same generated scenarios as slide 21, averaged over files. Rush hour is the average of morning and evening rush.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libri"/>
              </a:rPr>
              <a:t>Longest wait: Cost Based is lowest in every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Calibri"/>
              </a:rPr>
              <a:t>Mean of the longest wait in each run, in ticks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737360"/>
          <a:ext cx="10972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libri"/>
              </a:rPr>
              <a:t>Conclusion: best and worst, by term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10972800" cy="42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Worst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Average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Nearest Car Forward Run in rush hour and uniform traffic; Cost Based in the large building; Balanced in sparse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Round Robin in most scenarios; Nearest Car Simple in rush hour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Longest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Cost Based in every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Round Robin in sparse traffic; Nearest Car Simple in most scenarios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Energy (floors)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Nearest Car Forward Run in most scenarios; Cost Based in the large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Round Robin in most scenarios; Nearest Car Simple in rush hour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Passenger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Round Robin in every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Nearest Car Forward Run in sparse traffic; Nearest Car Simple in rush hour; Cost Based in uniform traffic and the large building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Efficiency (median total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Nearest Car Forward Run in most scenarios; Balanced in sparse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Round Robin in every scenario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Fairness (95th percentile wait)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Cost Based in every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Round Robin in sparse traffic; Nearest Car Simple in most scenarios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33771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Total ticks (run length)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Nearest Car in sparse traffic; Cost Based in uniform traffic and the large building; Balanced in rush hour and sparse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Round Robin in uniform traffic and sparse traffic; Nearest Car Simple in rush hour and the large building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93888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Simplicity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Nearest Car Simple (the 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Its longest wait is the highest in rush hour, uniform traffic and the large building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9739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What we would improve next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74519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Test the trade-off on more request files, and on cars of different capacities.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346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803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Use peak-mode parking across a group of floors, not one floor.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886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Make the Balanced weights settings, and add an energy-saving strategy.</a:t>
            </a:r>
          </a:p>
        </p:txBody>
      </p:sp>
      <p:sp>
        <p:nvSpPr>
          <p:cNvPr id="7" name="Oval 8"/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TextBox 9"/>
          <p:cNvSpPr txBox="1"/>
          <p:nvPr/>
        </p:nvSpPr>
        <p:spPr>
          <a:xfrm>
            <a:off x="1645920" y="4892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Group passengers by destination, and give each group to one car with a single forward run (destination dispatch). This needs a new strategy and a requirement change first.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Appendix: Morning rush: 100 files of 30 passengers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Means over the files. Green marks the best strategy for each measure.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79576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NEAREST_CAR_SIMPLE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COST_BASED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BALANCED_STRATEGY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wait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6.66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23.1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21.0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18.7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29.2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16.1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13.19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10.90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95th percentile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14.7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15.7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total time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13.51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12.05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11.17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13.58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11.82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11.72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0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floors travelled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149.4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135.2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139.9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Passenger balance across cars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0.987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0.966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0.933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ticks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53.0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52.4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49.1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59.0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49.7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49.0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70170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generated morning rush, 100 files, 30 passengers each. 10 floors, 3 cars, capacity 4. Empty cars wait on floor 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Appendix: Evening rush: 100 files of 30 passengers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Means over the files. Green marks the best strategy for each measure.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79576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NEAREST_CAR_SIMPLE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COST_BASED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BALANCED_STRATEGY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wait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7.45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28.4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32.9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16.8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10.96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95th percentile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22.2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22.9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28.0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15.4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20.7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total time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14.09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13.81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12.14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14.60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12.24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11.98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0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floors travelled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136.1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143.8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138.2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133.2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Passenger balance across cars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0.985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0.926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0.964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ticks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49.8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49.3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54.1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46.6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964379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generated evening rush, 100 files, 30 passengers each. 10 floors, 3 cars, capacity 4. Empty cars wait on parking floors 10, 6 and 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Appendix: Uniform traffic: 20 files of 30 passengers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Means over the files. Green marks the best strategy for each measure.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79576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NEAREST_CAR_SIMPLE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COST_BASED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BALANCED_STRATEGY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wait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4.52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17.1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15.5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21.1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16.1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7.67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95th percentile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17.1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17.7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11.3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total time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11.90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9.54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8.25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10.17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9.71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8.85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0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floors travelled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128.7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109.7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105.9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Passenger balance across cars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0.986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0.956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0.940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0.941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0.939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0.964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ticks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49.2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44.5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44.2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44.1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45.0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393963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generated uniform traffic, 20 files, 30 passengers each. 10 floors, 3 cars, capacity 4.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Appendix: Sparse traffic: 20 files of 10 passengers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Means over the files. Green marks the best strategy for each measure.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79576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NEAREST_CAR_SIMPLE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COST_BASED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BALANCED_STRATEGY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wait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3.25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8.7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6.30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95th percentile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8.7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total time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8.86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7.34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7.03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7.72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7.51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6.92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0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floors travelled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77.3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52.4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54.4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Passenger balance across cars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0.976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0.832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0.807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0.899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0.896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0.836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ticks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42.0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38.8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39.0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40.1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39.4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38.8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949732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generated sparse traffic, 20 files, 10 passengers each. 10 floors, 3 cars, capacity 4. With 10 passengers the 95th percentile equals the maximum.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761"/>
                </a:solidFill>
                <a:latin typeface="Calibri"/>
              </a:rPr>
              <a:t>Appendix: Large building: 20 files of 100 passengers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478"/>
                </a:solidFill>
                <a:latin typeface="Calibri"/>
              </a:rPr>
              <a:t>Means over the files. Green marks the best strategy for each measure.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79576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ROUND_ROBIN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NEAREST_CAR_FORWARD_RUN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NEAREST_CAR_SIMPLE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COST_BASED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BALANCED_STRATEGY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wait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41.76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31.79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26.98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35.54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26.73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28.45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93.1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95.7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111.3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141.6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50.8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96.3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total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56.70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45.85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38.88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42.08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41.70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95th percentile wait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82.8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74.0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73.0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100.7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45.6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68.2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Average total time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58.08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48.10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43.30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51.86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43.05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44.76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03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floors travelled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1052.4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880.0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849.4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999.7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844.5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901.6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Passenger balance across cars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0.989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0.970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0.875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0.874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0.822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0.929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ticks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196.2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189.2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192.1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226.2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166.6</a:t>
                      </a:r>
                    </a:p>
                  </a:txBody>
                  <a:tcPr anchor="ctr">
                    <a:solidFill>
                      <a:srgbClr val="D9F2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184.3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66883"/>
                  </a:ext>
                </a:extLst>
              </a:tr>
            </a:tbl>
          </a:graphicData>
        </a:graphic>
      </p:graphicFrame>
      <p:sp>
        <p:nvSpPr>
          <p:cNvPr id="5" name="Sample note"/>
          <p:cNvSpPr txBox="1"/>
          <p:nvPr/>
        </p:nvSpPr>
        <p:spPr>
          <a:xfrm>
            <a:off x="640080" y="6230000"/>
            <a:ext cx="109728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Sample: generated large building, 20 files, 100 passengers each. 50 floors, 6 cars, capacity 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3144</Words>
  <Application>Microsoft Office PowerPoint</Application>
  <PresentationFormat>Widescreen</PresentationFormat>
  <Paragraphs>708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Yashraj Arora</cp:lastModifiedBy>
  <cp:revision>9</cp:revision>
  <dcterms:created xsi:type="dcterms:W3CDTF">2013-01-27T09:14:16Z</dcterms:created>
  <dcterms:modified xsi:type="dcterms:W3CDTF">2026-10-14T13:49:59Z</dcterms:modified>
  <cp:category/>
</cp:coreProperties>
</file>